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f0bb45511804f56" /><Relationship Type="http://schemas.openxmlformats.org/officeDocument/2006/relationships/extended-properties" Target="/docProps/app.xml" Id="R7df59716bfd0402f" /><Relationship Type="http://schemas.openxmlformats.org/officeDocument/2006/relationships/officeDocument" Target="/ppt/presentation.xml" Id="R7e8bc8da12264a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3533f8955e4f70"/>
  </p:sldMasterIdLst>
  <p:notesMasterIdLst>
    <p:notesMasterId xmlns:r="http://schemas.openxmlformats.org/officeDocument/2006/relationships" r:id="R4114b06032564e18"/>
  </p:notesMasterIdLst>
  <p:sldIdLst>
    <p:sldId xmlns:r="http://schemas.openxmlformats.org/officeDocument/2006/relationships" id="256" r:id="Redb2291b1653473b"/>
    <p:sldId xmlns:r="http://schemas.openxmlformats.org/officeDocument/2006/relationships" id="257" r:id="R8278115d0cd14358"/>
    <p:sldId xmlns:r="http://schemas.openxmlformats.org/officeDocument/2006/relationships" id="258" r:id="R019262499c7f45a3"/>
    <p:sldId xmlns:r="http://schemas.openxmlformats.org/officeDocument/2006/relationships" id="259" r:id="R6eb79b6051484be2"/>
    <p:sldId xmlns:r="http://schemas.openxmlformats.org/officeDocument/2006/relationships" id="260" r:id="R99ff8d5f47884fe0"/>
    <p:sldId xmlns:r="http://schemas.openxmlformats.org/officeDocument/2006/relationships" id="261" r:id="Rc5bad35b51684a7e"/>
    <p:sldId xmlns:r="http://schemas.openxmlformats.org/officeDocument/2006/relationships" id="262" r:id="R26798e1d3b5040df"/>
    <p:sldId xmlns:r="http://schemas.openxmlformats.org/officeDocument/2006/relationships" id="263" r:id="Rf2aeba538d0a42b4"/>
    <p:sldId xmlns:r="http://schemas.openxmlformats.org/officeDocument/2006/relationships" id="264" r:id="R7a234bbee65f4df6"/>
    <p:sldId xmlns:r="http://schemas.openxmlformats.org/officeDocument/2006/relationships" id="265" r:id="R0bb81759920f4ed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020f4b6e9e244c9" /><Relationship Type="http://schemas.openxmlformats.org/officeDocument/2006/relationships/slideMaster" Target="/ppt/slideMasters/slideMaster1.xml" Id="Rcf3533f8955e4f70" /><Relationship Type="http://schemas.openxmlformats.org/officeDocument/2006/relationships/notesMaster" Target="/ppt/notesMasters/notesMaster1.xml" Id="R4114b06032564e18" /><Relationship Type="http://schemas.openxmlformats.org/officeDocument/2006/relationships/presProps" Target="/ppt/presProps.xml" Id="R94b33f61b6cc4183" /><Relationship Type="http://schemas.openxmlformats.org/officeDocument/2006/relationships/tableStyles" Target="/ppt/tableStyles.xml" Id="Rbcc5f48885224b01" /><Relationship Type="http://schemas.openxmlformats.org/officeDocument/2006/relationships/slide" Target="/ppt/slides/slide1.xml" Id="Redb2291b1653473b" /><Relationship Type="http://schemas.openxmlformats.org/officeDocument/2006/relationships/slide" Target="/ppt/slides/slide2.xml" Id="R8278115d0cd14358" /><Relationship Type="http://schemas.openxmlformats.org/officeDocument/2006/relationships/slide" Target="/ppt/slides/slide3.xml" Id="R019262499c7f45a3" /><Relationship Type="http://schemas.openxmlformats.org/officeDocument/2006/relationships/slide" Target="/ppt/slides/slide4.xml" Id="R6eb79b6051484be2" /><Relationship Type="http://schemas.openxmlformats.org/officeDocument/2006/relationships/slide" Target="/ppt/slides/slide5.xml" Id="R99ff8d5f47884fe0" /><Relationship Type="http://schemas.openxmlformats.org/officeDocument/2006/relationships/slide" Target="/ppt/slides/slide6.xml" Id="Rc5bad35b51684a7e" /><Relationship Type="http://schemas.openxmlformats.org/officeDocument/2006/relationships/slide" Target="/ppt/slides/slide7.xml" Id="R26798e1d3b5040df" /><Relationship Type="http://schemas.openxmlformats.org/officeDocument/2006/relationships/slide" Target="/ppt/slides/slide8.xml" Id="Rf2aeba538d0a42b4" /><Relationship Type="http://schemas.openxmlformats.org/officeDocument/2006/relationships/slide" Target="/ppt/slides/slide9.xml" Id="R7a234bbee65f4df6" /><Relationship Type="http://schemas.openxmlformats.org/officeDocument/2006/relationships/slide" Target="/ppt/slides/slide10.xml" Id="R0bb81759920f4e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0c7b52471604ab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9c275b805742be" /><Relationship Type="http://schemas.openxmlformats.org/officeDocument/2006/relationships/notesMaster" Target="/ppt/notesMasters/notesMaster1.xml" Id="Rd04385f8e31640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571f2cd1d5e4f67" /><Relationship Type="http://schemas.openxmlformats.org/officeDocument/2006/relationships/notesMaster" Target="/ppt/notesMasters/notesMaster1.xml" Id="R23de5e3bb1b74db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dfbbac5d5594208" /><Relationship Type="http://schemas.openxmlformats.org/officeDocument/2006/relationships/notesMaster" Target="/ppt/notesMasters/notesMaster1.xml" Id="R76150a1c586f4e9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a5d45d223cb4a8f" /><Relationship Type="http://schemas.openxmlformats.org/officeDocument/2006/relationships/notesMaster" Target="/ppt/notesMasters/notesMaster1.xml" Id="R9cb795bf0d494f7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d44850d6d0742a7" /><Relationship Type="http://schemas.openxmlformats.org/officeDocument/2006/relationships/notesMaster" Target="/ppt/notesMasters/notesMaster1.xml" Id="R6b91e4f76815421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7ebaa0a78b245dc" /><Relationship Type="http://schemas.openxmlformats.org/officeDocument/2006/relationships/notesMaster" Target="/ppt/notesMasters/notesMaster1.xml" Id="R74cae8b89a9e402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8665a1a1fa94bb3" /><Relationship Type="http://schemas.openxmlformats.org/officeDocument/2006/relationships/notesMaster" Target="/ppt/notesMasters/notesMaster1.xml" Id="R26c995e4d30c4af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6f2cf08eecd46e4" /><Relationship Type="http://schemas.openxmlformats.org/officeDocument/2006/relationships/notesMaster" Target="/ppt/notesMasters/notesMaster1.xml" Id="Rb21ea490161c41a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6d53419f2154aa5" /><Relationship Type="http://schemas.openxmlformats.org/officeDocument/2006/relationships/notesMaster" Target="/ppt/notesMasters/notesMaster1.xml" Id="R2de53a5711a3408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b742d1fe6874d1a" /><Relationship Type="http://schemas.openxmlformats.org/officeDocument/2006/relationships/notesMaster" Target="/ppt/notesMasters/notesMaster1.xml" Id="R912b33a291884a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보고서 docs/45_구현결과_보고서.md 기준. 최종 제출 전 팀 검토용이다.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서비스 화면과 대표 코스의 기능 범위를 소개한다. 실제 학생의 교육 효과를 검증했다는 뜻은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https://www.khs.go.kr/ , https://whc.unesco.org/en/list/xml/ . 권한 미확인 원문은 기존 제한을 유지한다. 무료 공개 보충 기록은 기존 25개 전체의 허가를 대체하지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구현: agents/learning.py 및 agent_discovery_service.py. 해외 검색 도구를 추가했으며 UNESCO 본문은 AI로 전송하지 않는다. 일반 역사 질문은 현재 공식 포털 안내 범위다.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실제 Gemini 표본에서 긍정·부정·변경, 오개념, 이유 부족을 확인했다. 추측 표현을 잃은 설명을 거부하도록 보강한 뒤 실제 재검사했다. 전문가 최종 승인과 별개다.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이미지: 직접 개발한 CultureBridge 설정 화면. outputs/unified-design-20261021/settings-page.png. 실제 기기 사용성 검증과는 별개다.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docs/44_WBS_잔여작업_실행근거.md. 합성 경로 검사는 실제 학생 수업이나 학습 효과의 검증이 아니다. Python 3.13 결과는 최종 보고서에 확정 후 추가한다.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check_restored_service.py의 별도 복구 검사 결과. 다른 PC 설치와 실제 기기 검사는 포함하지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WBS의 완료는 작업별 증거 범위에 한정한다. 표준국어대사전 실제 키 등록·정상 응답도 사용자 확인이 남아 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상세 대본: docs/46_발표와_시연_대본.md. 실제 Gemini 호출은 여유가 있을 때만 실행하고 실패를 성공으로 소개하지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72f5ce49c14e2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dd99baca3040d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0d04816bd94d5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e623943e4849a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8a4f3d77be4dd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446e38fd0a492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52E2503-CBB2-4BFC-8A6C-FCB8EAAB8B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026D934-5F77-4FCC-9ADC-A6A148568C6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BC0397C-262C-4218-B834-530FE98BCA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3DFD303-BAE4-4FE5-A172-CA774E7459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99B0418-9367-4362-9F82-F28EEF82755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4678ADD-3E25-4119-AF82-97A3DB9C5B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766BFBB-9C88-4DC7-B39F-946E57D68DC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BAD7152-18C5-4C13-AA59-D0C97419A2F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1AF8770-5ECD-4FE4-85B6-68ED1A65F4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FB91ECF-4B95-4A47-83D6-D594859E37A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3d9d8d2b4324d7f" /><Relationship Type="http://schemas.openxmlformats.org/officeDocument/2006/relationships/slideLayout" Target="/ppt/slideLayouts/slideLayout1.xml" Id="Ra898a2e65608447e" /><Relationship Type="http://schemas.openxmlformats.org/officeDocument/2006/relationships/slideLayout" Target="/ppt/slideLayouts/slideLayout2.xml" Id="Rbf9ceb8cdb2e41c3" /><Relationship Type="http://schemas.openxmlformats.org/officeDocument/2006/relationships/slideLayout" Target="/ppt/slideLayouts/slideLayout3.xml" Id="R40d0845dbbb9473f" /><Relationship Type="http://schemas.openxmlformats.org/officeDocument/2006/relationships/slideLayout" Target="/ppt/slideLayouts/slideLayout4.xml" Id="R59643a7f18fd43db" /><Relationship Type="http://schemas.openxmlformats.org/officeDocument/2006/relationships/slideLayout" Target="/ppt/slideLayouts/slideLayout5.xml" Id="R9214b66cafc944b9" /><Relationship Type="http://schemas.openxmlformats.org/officeDocument/2006/relationships/slideLayout" Target="/ppt/slideLayouts/slideLayout6.xml" Id="R730d6a745ce1494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98a2e65608447e"/>
    <p:sldLayoutId xmlns:r="http://schemas.openxmlformats.org/officeDocument/2006/relationships" id="2147483650" r:id="Rbf9ceb8cdb2e41c3"/>
    <p:sldLayoutId xmlns:r="http://schemas.openxmlformats.org/officeDocument/2006/relationships" id="2147483651" r:id="R40d0845dbbb9473f"/>
    <p:sldLayoutId xmlns:r="http://schemas.openxmlformats.org/officeDocument/2006/relationships" id="2147483652" r:id="R59643a7f18fd43db"/>
    <p:sldLayoutId xmlns:r="http://schemas.openxmlformats.org/officeDocument/2006/relationships" id="2147483653" r:id="R9214b66cafc944b9"/>
    <p:sldLayoutId xmlns:r="http://schemas.openxmlformats.org/officeDocument/2006/relationships" id="2147483654" r:id="R730d6a745ce1494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69058c91dd453b" /><Relationship Type="http://schemas.openxmlformats.org/officeDocument/2006/relationships/notesSlide" Target="/ppt/notesSlides/notesSlide1.xml" Id="R7f50cf4e645841b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d96ecb49c14c56" /><Relationship Type="http://schemas.openxmlformats.org/officeDocument/2006/relationships/notesSlide" Target="/ppt/notesSlides/notesSlide2.xml" Id="R8595b40f7c9945c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e823f8aed84ada" /><Relationship Type="http://schemas.openxmlformats.org/officeDocument/2006/relationships/notesSlide" Target="/ppt/notesSlides/notesSlide3.xml" Id="R44708f971c0b421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5dd775be7e4dd1" /><Relationship Type="http://schemas.openxmlformats.org/officeDocument/2006/relationships/notesSlide" Target="/ppt/notesSlides/notesSlide4.xml" Id="R64faf3f98ff64b2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673e97dd4d4dda" /><Relationship Type="http://schemas.openxmlformats.org/officeDocument/2006/relationships/notesSlide" Target="/ppt/notesSlides/notesSlide5.xml" Id="Rd0724058d31742c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f5de30c0ef4b0f" /><Relationship Type="http://schemas.openxmlformats.org/officeDocument/2006/relationships/image" Target="/ppt/media/image.jpeg" Id="Rf2b9f4056d894358" /><Relationship Type="http://schemas.openxmlformats.org/officeDocument/2006/relationships/notesSlide" Target="/ppt/notesSlides/notesSlide6.xml" Id="Rfe316f094d4642f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fdee69ece04ac5" /><Relationship Type="http://schemas.openxmlformats.org/officeDocument/2006/relationships/notesSlide" Target="/ppt/notesSlides/notesSlide7.xml" Id="Rba86d21d7dd8443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48fac2ff854542" /><Relationship Type="http://schemas.openxmlformats.org/officeDocument/2006/relationships/notesSlide" Target="/ppt/notesSlides/notesSlide8.xml" Id="R696174f093284e9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9138ff9c6a40e7" /><Relationship Type="http://schemas.openxmlformats.org/officeDocument/2006/relationships/notesSlide" Target="/ppt/notesSlides/notesSlide9.xml" Id="R69c164616c634fa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2ddc4b4bd3451e" /><Relationship Type="http://schemas.openxmlformats.org/officeDocument/2006/relationships/notesSlide" Target="/ppt/notesSlides/notesSlide10.xml" Id="R5d65182bbae24d0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754201-79F3-46E1-8850-1BE9E54ED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65796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65796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65796C"/>
                </a:solidFill>
                <a:latin typeface="Malgun Gothic"/>
                <a:ea typeface="Malgun Gothic"/>
                <a:cs typeface="Malgun Gothic"/>
              </a:rPr>
              <a:t>CULTUREBRIDGE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134D9C-619A-4B88-B1AC-55D61A86E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800" b="1">
                <a:solidFill>
                  <a:srgbClr val="233D3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4800" b="1">
                <a:solidFill>
                  <a:srgbClr val="233D38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233D38"/>
                </a:solidFill>
                <a:latin typeface="Malgun Gothic"/>
                <a:ea typeface="Malgun Gothic"/>
                <a:cs typeface="Malgun Gothic"/>
              </a:rPr>
              <a:t>CultureBridge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F08238-D0C9-4087-BE2B-ACED8BAB0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5796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65796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65796C"/>
                </a:solidFill>
                <a:latin typeface="Malgun Gothic"/>
                <a:ea typeface="Malgun Gothic"/>
                <a:cs typeface="Malgun Gothic"/>
              </a:rPr>
              <a:t>공식 자료로 함께 배우는 문화유산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C54536-2963-4419-971A-F3B793D1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rPr>
              <a:t>구현 결과와 남은 확인 항목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7DE25A-04AB-4EC2-8AAD-04368B36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rPr>
              <a:t>한국폴리텍대학 인천캠퍼스 컴퓨터공학과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E4BF3B-1E3C-45FE-A051-D06AA382B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rPr>
              <a:t>AI Agent 수업   김상엽   2026.10.23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1A15A5-7CB6-4B6B-A58E-D44F3E0C5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5796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5796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96C"/>
                </a:solidFill>
                <a:latin typeface="Malgun Gothic"/>
                <a:ea typeface="Malgun Gothic"/>
                <a:cs typeface="Malgun Gothic"/>
              </a:rPr>
              <a:t>2026.10.23  구현 결과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359C35-737A-4398-805E-246EB77D9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2865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5796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5796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5796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302375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FF3266-2298-446E-B532-4CB80D73B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65796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65796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65796C"/>
                </a:solidFill>
                <a:latin typeface="Malgun Gothic"/>
                <a:ea typeface="Malgun Gothic"/>
                <a:cs typeface="Malgun Gothic"/>
              </a:rPr>
              <a:t>CULTUREBRIDGE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2DCC99-3273-48E1-B2BF-D9076EFBA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33D3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233D38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233D38"/>
                </a:solidFill>
                <a:latin typeface="Malgun Gothic"/>
                <a:ea typeface="Malgun Gothic"/>
                <a:cs typeface="Malgun Gothic"/>
              </a:rPr>
              <a:t>문화유산을 비교하며 배우는 수업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448DCD-5981-4664-8300-B9318E2B9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5796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65796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65796C"/>
                </a:solidFill>
                <a:latin typeface="Malgun Gothic"/>
                <a:ea typeface="Malgun Gothic"/>
                <a:cs typeface="Malgun Gothic"/>
              </a:rPr>
              <a:t>검색에서 복습까지 이어지는 학습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438C90-3428-4855-A82A-E65E75FCB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rPr>
              <a:t>한국어 이름으로 유산을 찾고 공식 설명을 읽습니다.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1286E0-695A-4449-880F-F0337D67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rPr>
              <a:t>시대·구조·재료·종교적 배경을 근거로 비교합니다.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C3064A-076B-4FC6-BDC8-CCD5D1FC1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rPr>
              <a:t>대화와 퀴즈에서 이해를 확인하고 부족한 내용을 복습합니다.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801446-B71A-469A-A596-5AAB2BF6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5796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5796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96C"/>
                </a:solidFill>
                <a:latin typeface="Malgun Gothic"/>
                <a:ea typeface="Malgun Gothic"/>
                <a:cs typeface="Malgun Gothic"/>
              </a:rPr>
              <a:t>2026.10.23  구현 결과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A7CD00-F517-4B48-8A9D-536EEF1CD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2865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5796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5796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5796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591764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D30FE6-0816-4D48-8E5C-5E92F673D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65796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65796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65796C"/>
                </a:solidFill>
                <a:latin typeface="Malgun Gothic"/>
                <a:ea typeface="Malgun Gothic"/>
                <a:cs typeface="Malgun Gothic"/>
              </a:rPr>
              <a:t>CULTUREBRIDGE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313592-FC02-453F-96DF-82ADF4288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33D3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233D38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233D38"/>
                </a:solidFill>
                <a:latin typeface="Malgun Gothic"/>
                <a:ea typeface="Malgun Gothic"/>
                <a:cs typeface="Malgun Gothic"/>
              </a:rPr>
              <a:t>자료마다 역할과 이용 범위가 다릅니다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BA3E53-3C0F-410C-B072-2B7093D4D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5796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65796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65796C"/>
                </a:solidFill>
                <a:latin typeface="Malgun Gothic"/>
                <a:ea typeface="Malgun Gothic"/>
                <a:cs typeface="Malgun Gothic"/>
              </a:rPr>
              <a:t>공식 자료와 권리 확인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A2A76F-C97E-4369-9B4A-E130F3A2A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rPr>
              <a:t>국가유산청: 검색·상세 설명·위치 정보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D81CB6-9B9A-4A9C-96A2-D2128BF81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rPr>
              <a:t>UNESCO: 세계유산 목록과 공식 상세 링크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5FAB65-5464-474E-8113-65475A547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rPr>
              <a:t>해외 개별 유산 25개: 대상 범위와 근거를 검토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7C5D10-0166-4EEC-B6B0-B0F2C3757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rPr>
              <a:t>연결 성공과 번역·AI 처리·재배포 허가는 별도 관리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0A884A-B820-422A-B51E-3C68B79B7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5796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5796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96C"/>
                </a:solidFill>
                <a:latin typeface="Malgun Gothic"/>
                <a:ea typeface="Malgun Gothic"/>
                <a:cs typeface="Malgun Gothic"/>
              </a:rPr>
              <a:t>2026.10.23  구현 결과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AAFBF5-AADB-4BD7-BCC6-31F755F4E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2865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5796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5796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5796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249449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FD5055-4431-4777-92D7-5307935EC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65796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65796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65796C"/>
                </a:solidFill>
                <a:latin typeface="Malgun Gothic"/>
                <a:ea typeface="Malgun Gothic"/>
                <a:cs typeface="Malgun Gothic"/>
              </a:rPr>
              <a:t>CULTUREBRIDGE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E6E3BE-4C01-4490-86A9-826F4E2B8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33D3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233D38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233D38"/>
                </a:solidFill>
                <a:latin typeface="Malgun Gothic"/>
                <a:ea typeface="Malgun Gothic"/>
                <a:cs typeface="Malgun Gothic"/>
              </a:rPr>
              <a:t>질문에 따라 자료를 찾는 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28ADCF-092F-45A6-84D4-DED942854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5796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65796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65796C"/>
                </a:solidFill>
                <a:latin typeface="Malgun Gothic"/>
                <a:ea typeface="Malgun Gothic"/>
                <a:cs typeface="Malgun Gothic"/>
              </a:rPr>
              <a:t>실행 범위를 제한한 자율 탐구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3ED09A-C3D3-458A-89A6-D16842906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rPr>
              <a:t>질문과 학습 상태를 보고 사용할 도구를 선택합니다.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054C76-62C7-44A5-B67C-043FCE160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rPr>
              <a:t>검색 결과의 등록 자료를 읽고 근거 부족 시 다시 탐색합니다.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4BE02A-3426-4A91-9834-AAC6001C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rPr>
              <a:t>호출 수·실행 시간·중복 행동에 한도를 둡니다.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7A2174-7E6F-4754-A1A7-E9DD259C8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rPr>
              <a:t>근거가 없거나 이용 조건이 맞지 않으면 판단을 보류합니다.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A7F751-B81F-4914-88C6-BFDDA0080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5796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5796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96C"/>
                </a:solidFill>
                <a:latin typeface="Malgun Gothic"/>
                <a:ea typeface="Malgun Gothic"/>
                <a:cs typeface="Malgun Gothic"/>
              </a:rPr>
              <a:t>2026.10.23  구현 결과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AD33FB-658D-495D-B95E-2BE41E821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2865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5796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5796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5796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306178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0F8824-8C11-478B-BE2F-09B5340A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65796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65796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65796C"/>
                </a:solidFill>
                <a:latin typeface="Malgun Gothic"/>
                <a:ea typeface="Malgun Gothic"/>
                <a:cs typeface="Malgun Gothic"/>
              </a:rPr>
              <a:t>CULTUREBRIDGE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AC27C8-1E2C-4872-992C-D1322F0FB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33D3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233D38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233D38"/>
                </a:solidFill>
                <a:latin typeface="Malgun Gothic"/>
                <a:ea typeface="Malgun Gothic"/>
                <a:cs typeface="Malgun Gothic"/>
              </a:rPr>
              <a:t>학습자에 맞춘 설명과 다음 활동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66DB13-ADA1-4E24-8864-5C71708C6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5796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65796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65796C"/>
                </a:solidFill>
                <a:latin typeface="Malgun Gothic"/>
                <a:ea typeface="Malgun Gothic"/>
                <a:cs typeface="Malgun Gothic"/>
              </a:rPr>
              <a:t>원문 사실과 불확실성 보존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C7A7C2-D153-4B99-B25B-A49F13BD0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rPr>
              <a:t>대화에서 관심·목표를 추정하고 변경·부정을 반영합니다.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24C211-719A-49BA-B1F9-AD80988B0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rPr>
              <a:t>초급·중급·고급과 설명 방식에 맞춰 읽기를 돕습니다.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1F3A29-6E87-429E-AB8D-34145FC37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rPr>
              <a:t>답과 이유를 함께 보고 보충 설명·다른 문제를 선택합니다.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9CF4D5-DAAE-4867-832F-540186C8B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rPr>
              <a:t>추측 연대를 확정 사실로 바꾸지 않도록 검사합니다.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22E47A-A5E7-450D-AA19-A4E8589EC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5796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5796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96C"/>
                </a:solidFill>
                <a:latin typeface="Malgun Gothic"/>
                <a:ea typeface="Malgun Gothic"/>
                <a:cs typeface="Malgun Gothic"/>
              </a:rPr>
              <a:t>2026.10.23  구현 결과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01AF59-1B78-4881-B3FA-955D83DC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2865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5796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5796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5796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059960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F74456-0066-4DA4-8B37-253616ED0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65796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65796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65796C"/>
                </a:solidFill>
                <a:latin typeface="Malgun Gothic"/>
                <a:ea typeface="Malgun Gothic"/>
                <a:cs typeface="Malgun Gothic"/>
              </a:rPr>
              <a:t>CULTUREBRIDGE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A1BEA9-D42D-425B-BB9C-2FE53E66B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33D3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233D38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233D38"/>
                </a:solidFill>
                <a:latin typeface="Malgun Gothic"/>
                <a:ea typeface="Malgun Gothic"/>
                <a:cs typeface="Malgun Gothic"/>
              </a:rPr>
              <a:t>서비스 화면과 설정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C66897-11B8-4BE5-8CCF-430BD2EC2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5796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65796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65796C"/>
                </a:solidFill>
                <a:latin typeface="Malgun Gothic"/>
                <a:ea typeface="Malgun Gothic"/>
                <a:cs typeface="Malgun Gothic"/>
              </a:rPr>
              <a:t>학습에 집중할 수 있는 화면 구성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307B8D-E8EC-429F-A2FD-F720505E7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4476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rPr>
              <a:t>공통 탐색과 역사 친화적인 색을 유지했습니다.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6266B1-1C1A-48BD-8EF7-40ECAFCE3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4476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rPr>
              <a:t>설명 방식은 설정, 관심·목표는 나의 학습에서 관리합니다.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4609B3-D522-48D7-9EA2-41C8598F6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4476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rPr>
              <a:t>검색 결과와 비교로 돌아갈 때 학습 조건을 유지합니다.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245A4E-FAA2-4E6A-8545-CE2C4477DE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b9f4056d894358"/>
          <a:stretch xmlns:a="http://schemas.openxmlformats.org/drawingml/2006/main"/>
        </p:blipFill>
        <p:spPr>
          <a:xfrm xmlns:a="http://schemas.openxmlformats.org/drawingml/2006/main">
            <a:off x="7729444" y="2724150"/>
            <a:ext cx="1495613" cy="3238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311406-876A-4121-AD5B-4D3A8AC5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5796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5796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96C"/>
                </a:solidFill>
                <a:latin typeface="Malgun Gothic"/>
                <a:ea typeface="Malgun Gothic"/>
                <a:cs typeface="Malgun Gothic"/>
              </a:rPr>
              <a:t>2026.10.23  구현 결과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9D6DF9-B3A0-4EFF-A687-2EFC6168B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2865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5796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5796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5796C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469730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515D1B-20E8-4D86-BE32-357D0B5F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65796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65796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65796C"/>
                </a:solidFill>
                <a:latin typeface="Malgun Gothic"/>
                <a:ea typeface="Malgun Gothic"/>
                <a:cs typeface="Malgun Gothic"/>
              </a:rPr>
              <a:t>CULTUREBRIDGE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C5BB09-2E53-4261-B27E-118701ABC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33D3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233D38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233D38"/>
                </a:solidFill>
                <a:latin typeface="Malgun Gothic"/>
                <a:ea typeface="Malgun Gothic"/>
                <a:cs typeface="Malgun Gothic"/>
              </a:rPr>
              <a:t>자동 검사와 실제 응답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5EB0C8-D71F-48BF-AE12-825A28BAD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5796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65796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65796C"/>
                </a:solidFill>
                <a:latin typeface="Malgun Gothic"/>
                <a:ea typeface="Malgun Gothic"/>
                <a:cs typeface="Malgun Gothic"/>
              </a:rPr>
              <a:t>기능 검사와 교육 효과를 구분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4EE7B7-B1DD-4138-8E1D-32974AEBE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rPr>
              <a:t>Python 3.12: 자동 검사 675개 통과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AC783D-DC93-4B3C-BF76-D2599949B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rPr>
              <a:t>25개 새 원문 연결과 3수준 75개 설명의 원문 보존 확인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40B7E1-778A-4F0F-A3A5-57945F9B9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rPr>
              <a:t>5개 코스 × 3수준: 비교·채점·오답 복습 15개 경로 확인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E05800-339D-4CF7-8D08-8D72EB08F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rPr>
              <a:t>Gemini: 제한된 실제 사례 확인, 503 실패 기록도 보존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7199F6-30FF-466D-8342-7CD627B16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5796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5796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96C"/>
                </a:solidFill>
                <a:latin typeface="Malgun Gothic"/>
                <a:ea typeface="Malgun Gothic"/>
                <a:cs typeface="Malgun Gothic"/>
              </a:rPr>
              <a:t>2026.10.23  구현 결과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BBA784-599E-46EE-84FC-1D48B6F41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2865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5796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5796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5796C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599112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F3423E-B846-4F64-9E1D-AA8F8A45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65796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65796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65796C"/>
                </a:solidFill>
                <a:latin typeface="Malgun Gothic"/>
                <a:ea typeface="Malgun Gothic"/>
                <a:cs typeface="Malgun Gothic"/>
              </a:rPr>
              <a:t>CULTUREBRIDGE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C62C58-A70B-4676-99BB-7A95348D0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33D3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233D38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233D38"/>
                </a:solidFill>
                <a:latin typeface="Malgun Gothic"/>
                <a:ea typeface="Malgun Gothic"/>
                <a:cs typeface="Malgun Gothic"/>
              </a:rPr>
              <a:t>기록과 복구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AF3851-4918-4D61-9FBD-41B692097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5796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65796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65796C"/>
                </a:solidFill>
                <a:latin typeface="Malgun Gothic"/>
                <a:ea typeface="Malgun Gothic"/>
                <a:cs typeface="Malgun Gothic"/>
              </a:rPr>
              <a:t>운영 DB를 바꾸지 않은 복원 확인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3BC9FD-03C3-48A9-8FA8-60494B5D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rPr>
              <a:t>새 백업을 별도 DB로 복원했습니다.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C250EA-855A-48EA-B556-424C8AA22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rPr>
              <a:t>32개 테이블 행 수 일치와 무결성·외래키 검사를 확인했습니다.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C31B4C-1286-4F91-905B-A964A9E7E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rPr>
              <a:t>복구한 환경에서 주요 화면 6곳이 정상 응답했습니다.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0854CB-08C0-4E48-80A3-131A6FBD9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rPr>
              <a:t>키·개인 기록·원문 진단 파일은 공개 저장소에서 제외합니다.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C21A80-6D4C-4481-BF82-361C8DAB4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5796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5796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96C"/>
                </a:solidFill>
                <a:latin typeface="Malgun Gothic"/>
                <a:ea typeface="Malgun Gothic"/>
                <a:cs typeface="Malgun Gothic"/>
              </a:rPr>
              <a:t>2026.10.23  구현 결과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CCCAFF-AADA-4F33-AA83-DCAC415D3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2865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5796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5796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5796C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594750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0D6527-BD94-4806-95AC-D722A695F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65796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65796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65796C"/>
                </a:solidFill>
                <a:latin typeface="Malgun Gothic"/>
                <a:ea typeface="Malgun Gothic"/>
                <a:cs typeface="Malgun Gothic"/>
              </a:rPr>
              <a:t>CULTUREBRIDGE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2F3597-A63B-46F0-B2BB-CD09305EE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33D3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233D38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233D38"/>
                </a:solidFill>
                <a:latin typeface="Malgun Gothic"/>
                <a:ea typeface="Malgun Gothic"/>
                <a:cs typeface="Malgun Gothic"/>
              </a:rPr>
              <a:t>남은 확인과 한계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916A90-CCFF-4C3A-B59B-21D090800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5796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65796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65796C"/>
                </a:solidFill>
                <a:latin typeface="Malgun Gothic"/>
                <a:ea typeface="Malgun Gothic"/>
                <a:cs typeface="Malgun Gothic"/>
              </a:rPr>
              <a:t>완료 근거가 없는 항목은 그대로 남깁니다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4A79AC-169C-4143-94C0-3B2412C52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rPr>
              <a:t>기관 이용 허가 회신과 역사 전문가의 최종 검수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A97871-5DDE-4866-8E33-C2F7ABE15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rPr>
              <a:t>실제 안드로이드 음성·권한·설치 및 다른 PC 실행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3F4416-1A8D-4F33-B318-F1F663422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rPr>
              <a:t>학생 수업의 난도·추천·복습 경험과 실제 사용성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B85065-4CFF-48BE-984D-1B8DE1913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rPr>
              <a:t>일반 역사 원문 검색 확대와 최종 팀 검토·제출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C5E58A-F9FE-49A4-BC50-8FDB168C1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5796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5796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96C"/>
                </a:solidFill>
                <a:latin typeface="Malgun Gothic"/>
                <a:ea typeface="Malgun Gothic"/>
                <a:cs typeface="Malgun Gothic"/>
              </a:rPr>
              <a:t>2026.10.23  구현 결과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74CE4D-9117-4C49-9BF2-F34E038EF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2865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5796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5796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5796C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4211558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E0DB0E-D347-4220-9E70-4A5E1C28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65796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65796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65796C"/>
                </a:solidFill>
                <a:latin typeface="Malgun Gothic"/>
                <a:ea typeface="Malgun Gothic"/>
                <a:cs typeface="Malgun Gothic"/>
              </a:rPr>
              <a:t>CULTUREBRIDGE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1A1050-6B95-4FA7-B0D0-C3610BD46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33D3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233D38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233D38"/>
                </a:solidFill>
                <a:latin typeface="Malgun Gothic"/>
                <a:ea typeface="Malgun Gothic"/>
                <a:cs typeface="Malgun Gothic"/>
              </a:rPr>
              <a:t>시연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A1EC77-A831-48D3-86F7-A03E9F179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5796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65796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65796C"/>
                </a:solidFill>
                <a:latin typeface="Malgun Gothic"/>
                <a:ea typeface="Malgun Gothic"/>
                <a:cs typeface="Malgun Gothic"/>
              </a:rPr>
              <a:t>검색에서 학습 기록까지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813546-FAAB-4E75-B84F-5F62BFE90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rPr>
              <a:t>불국사 검색과 다보탑 수준별 설명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6D2F22-6BE0-4CC9-8433-42915BEEF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rPr>
              <a:t>해외 비교 대상 선택과 양쪽 근거 확인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7D1C1B-0A7C-496F-8850-78B84228B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rPr>
              <a:t>퀴즈 오답의 해설·복습과 나의 학습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B3B9DB-D234-4E93-AB44-91A6EBCDC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33D38"/>
                </a:solidFill>
                <a:latin typeface="Malgun Gothic"/>
                <a:ea typeface="Malgun Gothic"/>
                <a:cs typeface="Malgun Gothic"/>
              </a:rPr>
              <a:t>실패 시 저장 결과·공식 원문 안내로 전환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FA1F4B-BAD4-4407-9386-8CAE54EB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5796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5796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96C"/>
                </a:solidFill>
                <a:latin typeface="Malgun Gothic"/>
                <a:ea typeface="Malgun Gothic"/>
                <a:cs typeface="Malgun Gothic"/>
              </a:rPr>
              <a:t>2026.10.23  구현 결과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EF27A7-5300-438F-90D9-DB131544B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2865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5796C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5796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5796C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190602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2026-10-23T07:05:48.9060000Z</dcterms:created>
  <dcterms:modified xsi:type="dcterms:W3CDTF">2026-10-23T07:05:48.9060000Z</dcterms:modified>
</coreProperties>
</file>